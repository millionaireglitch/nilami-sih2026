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4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image" Target="../media/image-10-1.png"/><Relationship Id="rId8" Type="http://schemas.openxmlformats.org/officeDocument/2006/relationships/image" Target="../media/image-10-1.png"/><Relationship Id="rId9" Type="http://schemas.openxmlformats.org/officeDocument/2006/relationships/image" Target="../media/image-10-1.png"/><Relationship Id="rId10" Type="http://schemas.openxmlformats.org/officeDocument/2006/relationships/image" Target="../media/image-10-1.png"/><Relationship Id="rId11" Type="http://schemas.openxmlformats.org/officeDocument/2006/relationships/image" Target="../media/image-10-1.png"/><Relationship Id="rId12" Type="http://schemas.openxmlformats.org/officeDocument/2006/relationships/image" Target="../media/image-10-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600200" y="3200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069080" y="3200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3200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537960" y="3200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3200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006840" y="3200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0" y="3200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475720" y="320040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E42"/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-1463040"/>
            <a:ext cx="4754880" cy="4754880"/>
          </a:xfrm>
          <a:prstGeom prst="ellipse">
            <a:avLst/>
          </a:prstGeom>
          <a:ln w="25400">
            <a:solidFill>
              <a:srgbClr val="E86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-731520"/>
            <a:ext cx="3291840" cy="3291840"/>
          </a:xfrm>
          <a:prstGeom prst="ellipse">
            <a:avLst/>
          </a:prstGeom>
          <a:ln w="25400">
            <a:solidFill>
              <a:srgbClr val="2B62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566928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122B5C"/>
          </a:solidFill>
          <a:ln w="12700">
            <a:solidFill>
              <a:srgbClr val="214E9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7269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669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— SUBMISSION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3317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NILAMI</a:t>
            </a:r>
            <a:endParaRPr lang="en-US" sz="80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" y="3429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Find.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Understand. </a:t>
            </a:r>
            <a:pPr indent="0" marL="0">
              <a:buNone/>
            </a:pPr>
            <a:r>
              <a:rPr lang="en-US" sz="2400" b="1" dirty="0">
                <a:solidFill>
                  <a:srgbClr val="FF8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Bid.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" y="3977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trust-first discovery platform for India's bank, NPA, DRT and government e-auctions — pitch deck &amp; go-to-market plan.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76072" y="4892040"/>
            <a:ext cx="2926080" cy="0"/>
          </a:xfrm>
          <a:prstGeom prst="line">
            <a:avLst/>
          </a:prstGeom>
          <a:noFill/>
          <a:ln w="12700">
            <a:solidFill>
              <a:srgbClr val="214E9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" y="5010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theme: Aggregation &amp; transparency of bank / government e-auction properties  •  Software Track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76072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PLACEHOLDER  ·  Prototype built in React + TypeScript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&amp; government e-auctions are everywhere — and nowhere to find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0408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THEME (SIH)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6355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65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“Citizens looking to buy distressed / seized assets — flats, plots, shops, vehicles, industrial units — must trawl dozens of disconnected bank, DRT, ARC and government e-auction sites, each with its own format, legal jargon and login, with no way to compare, verify or trust a listing before bidding.”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68680" y="4032504"/>
            <a:ext cx="91440" cy="91440"/>
          </a:xfrm>
          <a:prstGeom prst="ellipse">
            <a:avLst/>
          </a:prstGeom>
          <a:solidFill>
            <a:srgbClr val="E860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90448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 banks, private banks, NBFCs, ARCs, DRTs, courts and municipal bodies each publish independently — no single index.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4745736"/>
            <a:ext cx="91440" cy="91440"/>
          </a:xfrm>
          <a:prstGeom prst="ellipse">
            <a:avLst/>
          </a:prstGeom>
          <a:solidFill>
            <a:srgbClr val="E860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461772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Jargon-heavy notices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EMD, reserve price, possession status and encumbrances are stated in legal language with no plain-English guidance for first-time bidders.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5458968"/>
            <a:ext cx="91440" cy="91440"/>
          </a:xfrm>
          <a:prstGeom prst="ellipse">
            <a:avLst/>
          </a:prstGeom>
          <a:solidFill>
            <a:srgbClr val="E860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533095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 signal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can't tell a well-documented, ready-to-bid listing from an incomplete or risky one until they've already spent time (or money) on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1691640"/>
            <a:ext cx="3822192" cy="1399032"/>
          </a:xfrm>
          <a:prstGeom prst="roundRect">
            <a:avLst>
              <a:gd name="adj" fmla="val 5229"/>
            </a:avLst>
          </a:prstGeom>
          <a:solidFill>
            <a:srgbClr val="0C1E42"/>
          </a:solidFill>
          <a:ln w="12700">
            <a:solidFill>
              <a:srgbClr val="0C1E4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892808"/>
            <a:ext cx="457200" cy="45720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15" name="Image 0" descr="/home/claude/deck/icons/lan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947672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686800" y="18013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122,500+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2404872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migrated onto the government's own Baanknet portal alone — PSU banks only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818120" y="3227832"/>
            <a:ext cx="3822192" cy="1399032"/>
          </a:xfrm>
          <a:prstGeom prst="roundRect">
            <a:avLst>
              <a:gd name="adj" fmla="val 5229"/>
            </a:avLst>
          </a:prstGeom>
          <a:solidFill>
            <a:srgbClr val="0C1E42"/>
          </a:solidFill>
          <a:ln w="12700">
            <a:solidFill>
              <a:srgbClr val="0C1E4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0" y="3429000"/>
            <a:ext cx="457200" cy="45720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20" name="Image 1" descr="/home/claude/deck/icons/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3483864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68680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8046720" y="3941064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banks &amp; PSU categories referenced in the DFS auction ecosystem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818120" y="4764024"/>
            <a:ext cx="3822192" cy="1399032"/>
          </a:xfrm>
          <a:prstGeom prst="roundRect">
            <a:avLst>
              <a:gd name="adj" fmla="val 5229"/>
            </a:avLst>
          </a:prstGeom>
          <a:solidFill>
            <a:srgbClr val="0C1E42"/>
          </a:solidFill>
          <a:ln w="12700">
            <a:solidFill>
              <a:srgbClr val="0C1E4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046720" y="4965192"/>
            <a:ext cx="457200" cy="45720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25" name="Image 2" descr="/home/claude/deck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5020056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686800" y="48737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2"/>
          <p:cNvSpPr txBox="1"/>
          <p:nvPr/>
        </p:nvSpPr>
        <p:spPr>
          <a:xfrm>
            <a:off x="8046720" y="5477256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consolidated, citizen-friendly discovery layers that currently spans banks + NBFCs + DRTs + vehicles + govt assets: zero, today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818120" y="6327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Dept. of Financial Services / Baanknet launch statement, Jan 2025</a:t>
            </a:r>
            <a:endParaRPr lang="en-US" sz="850" dirty="0"/>
          </a:p>
        </p:txBody>
      </p:sp>
      <p:sp>
        <p:nvSpPr>
          <p:cNvPr id="29" name="Text 2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THE GAP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groups lose out every single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193B76"/>
          </a:solidFill>
          <a:ln/>
        </p:spPr>
      </p:sp>
      <p:pic>
        <p:nvPicPr>
          <p:cNvPr id="6" name="Image 0" descr="/home/claude/dec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31272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FE8D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BUYER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5661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First-Time Bidder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16052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middle-class family hunting for a below-market flat gives up after finding three contradictory PDF notices and no idea what ‘EMD’ means.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17830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90872" y="2103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193B76"/>
          </a:solidFill>
          <a:ln/>
        </p:spPr>
      </p:sp>
      <p:pic>
        <p:nvPicPr>
          <p:cNvPr id="13" name="Image 1" descr="/home/claude/deck/icons/lan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286000"/>
            <a:ext cx="457200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90872" y="31272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FE8D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690872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NBFC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4690872" y="35661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Recovery Officer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690872" y="416052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officer re-uploads the same notice to five portals, still gets low footfall, and can't tell if bidders are serious.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93024" y="17830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13064" y="2103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193B76"/>
          </a:solidFill>
          <a:ln/>
        </p:spPr>
      </p:sp>
      <p:pic>
        <p:nvPicPr>
          <p:cNvPr id="20" name="Image 2" descr="/home/claude/deck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2286000"/>
            <a:ext cx="457200" cy="4572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513064" y="31272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FE8D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513064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/ POLICY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8513064" y="35661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Regulator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513064" y="416052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and RBI want faster NPA resolution and better price discovery, but fragmented listings mean auctions repeatedly fail for want of bidders.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SCAN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infrastructure exists — discovery &amp; trust don't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744200" cy="420624"/>
          </a:xfrm>
          <a:prstGeom prst="roundRect">
            <a:avLst>
              <a:gd name="adj" fmla="val 13043"/>
            </a:avLst>
          </a:prstGeom>
          <a:solidFill>
            <a:srgbClr val="0C1E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CHANNEL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48132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543800" y="14813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NILAMI FILLS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10744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901952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bank portals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(SBI, PNB, HDFC…)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1901952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Official, legally binding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901952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per bank; no cross-bank 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0744200" cy="841248"/>
          </a:xfrm>
          <a:prstGeom prst="rect">
            <a:avLst/>
          </a:prstGeom>
          <a:solidFill>
            <a:srgbClr val="EEF2F9"/>
          </a:solidFill>
          <a:ln w="9525">
            <a:solidFill>
              <a:srgbClr val="E5E2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74320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Baanknet (DFS / PSB Alliance)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2743200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PSU bank listings, KYC + payments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2743200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 banks only — no NBFCs, DRTs, vehicles, courts, or state assets; transaction-grade, not buyer-education-grade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10744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584448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eBKray / IBBI liquidation platform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358444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 for insolvency asset sales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358444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silo for IBC cases only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25696"/>
            <a:ext cx="10744200" cy="841248"/>
          </a:xfrm>
          <a:prstGeom prst="rect">
            <a:avLst/>
          </a:prstGeom>
          <a:solidFill>
            <a:srgbClr val="EEF2F9"/>
          </a:solidFill>
          <a:ln w="9525">
            <a:solidFill>
              <a:srgbClr val="E5E2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42569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listing sites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(auction aggregators)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4425696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coverage, easy to browse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4425696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Paid/brokered, inconsistent verification, no standard trust score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449824"/>
            <a:ext cx="10744200" cy="731520"/>
          </a:xfrm>
          <a:prstGeom prst="roundRect">
            <a:avLst>
              <a:gd name="adj" fmla="val 10000"/>
            </a:avLst>
          </a:prstGeom>
          <a:solidFill>
            <a:srgbClr val="0C1E42"/>
          </a:solidFill>
          <a:ln w="12700">
            <a:solidFill>
              <a:srgbClr val="0C1E4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5449824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8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Nilami's position: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competitor to Baanknet — a citizen-facing meta-layer that aggregates it (via public data/notices) alongside private banks, NBFCs, DRTs, courts and state bodies, then adds plain-language guidance and a trust score on top.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ln w="19050">
            <a:solidFill>
              <a:srgbClr val="214E9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Nilami: one trusted front door to every Indian e-auction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 aggregates live and upcoming auctions from banks, NBFCs, DRTs, courts and government bodies into a single, plain-language marketplace — rating every listing's readiness with a transparent Auction Scorecard, and rewarding genuine buyer engagement through a tiered membership program.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22B5C"/>
          </a:solidFill>
          <a:ln w="12700">
            <a:solidFill>
              <a:srgbClr val="214E9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3154680"/>
            <a:ext cx="548640" cy="54864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8" name="Image 0" descr="/home/claude/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3220517"/>
            <a:ext cx="416966" cy="41696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886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36168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listings — residential, commercial, land, vehicles, industrial — from 14+ banks &amp; agencies in one searchable index.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28803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22B5C"/>
          </a:solidFill>
          <a:ln w="12700">
            <a:solidFill>
              <a:srgbClr val="214E9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47872" y="3154680"/>
            <a:ext cx="548640" cy="54864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13" name="Image 1" descr="/home/claude/dec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709" y="322051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20440" y="3886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&amp; Score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436168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traced to its official source, then rated on documentation, information quality, location &amp; readiness.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28803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22B5C"/>
          </a:solidFill>
          <a:ln w="12700">
            <a:solidFill>
              <a:srgbClr val="214E9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1072" y="3154680"/>
            <a:ext cx="548640" cy="54864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18" name="Image 2" descr="/home/claude/deck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909" y="322051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3886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436168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EMD, reserve price, possession and bidding rules translated into plain language, guides and calculators.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778240" y="28803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22B5C"/>
          </a:solidFill>
          <a:ln w="12700">
            <a:solidFill>
              <a:srgbClr val="214E9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034272" y="3154680"/>
            <a:ext cx="548640" cy="54864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23" name="Image 3" descr="/home/claude/deck/icons/crow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109" y="3220517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06840" y="3886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 &amp; Retain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006840" y="436168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Nilvaa membership rewards saving, comparing and bidding with real, escalating platform benefits.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three steps, from confusion to confident bidding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5D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3200400" y="2084832"/>
            <a:ext cx="566928" cy="566928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7" name="Image 0" descr="/home/claude/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8431" y="2152863"/>
            <a:ext cx="430865" cy="4308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&amp; Discover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8328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thousands of listings from SBI, PNB, HDFC, DRT courts and government agencies. Filter by location, price, asset type and auction date.</a:t>
            </a:r>
            <a:endParaRPr lang="en-US" sz="1200" dirty="0"/>
          </a:p>
        </p:txBody>
      </p:sp>
      <p:pic>
        <p:nvPicPr>
          <p:cNvPr id="10" name="Image 1" descr="/home/claude/deck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3611880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05656" y="3566160"/>
            <a:ext cx="384048" cy="384048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12" name="Image 2" descr="/home/claude/deck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096" y="3657600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389120" y="18288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663440" y="19659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5D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15" name="Shape 10"/>
          <p:cNvSpPr/>
          <p:nvPr/>
        </p:nvSpPr>
        <p:spPr>
          <a:xfrm>
            <a:off x="7040880" y="2084832"/>
            <a:ext cx="566928" cy="566928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16" name="Image 3" descr="/home/claude/deck/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911" y="2152863"/>
            <a:ext cx="430865" cy="43086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66344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Auction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4663440" y="338328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plain-language explanations of EMD, reserve price and bidding rules. The Auction Scorecard shows exactly how prepared each listing is.</a:t>
            </a:r>
            <a:endParaRPr lang="en-US" sz="1200" dirty="0"/>
          </a:p>
        </p:txBody>
      </p:sp>
      <p:pic>
        <p:nvPicPr>
          <p:cNvPr id="19" name="Image 4" descr="/home/claude/deck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712" y="3611880"/>
            <a:ext cx="292608" cy="29260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946136" y="3566160"/>
            <a:ext cx="384048" cy="384048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21" name="Image 5" descr="/home/claude/deck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576" y="3657600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229600" y="18288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3" name="Text 15"/>
          <p:cNvSpPr txBox="1"/>
          <p:nvPr/>
        </p:nvSpPr>
        <p:spPr>
          <a:xfrm>
            <a:off x="8503920" y="19659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5D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600" dirty="0"/>
          </a:p>
        </p:txBody>
      </p:sp>
      <p:sp>
        <p:nvSpPr>
          <p:cNvPr id="24" name="Shape 16"/>
          <p:cNvSpPr/>
          <p:nvPr/>
        </p:nvSpPr>
        <p:spPr>
          <a:xfrm>
            <a:off x="10881360" y="2084832"/>
            <a:ext cx="566928" cy="566928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25" name="Image 6" descr="/home/claude/deck/icons/aw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9391" y="2152863"/>
            <a:ext cx="430865" cy="43086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503920" y="2880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&amp; Bid</a:t>
            </a:r>
            <a:endParaRPr lang="en-US" sz="1700" dirty="0"/>
          </a:p>
        </p:txBody>
      </p:sp>
      <p:sp>
        <p:nvSpPr>
          <p:cNvPr id="27" name="Text 18"/>
          <p:cNvSpPr txBox="1"/>
          <p:nvPr/>
        </p:nvSpPr>
        <p:spPr>
          <a:xfrm>
            <a:off x="8503920" y="338328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KYC, submit the EMD to the bank, and bid in real time — tracking every bid, payment and document from a personal dashboard.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29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 · 01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built for a first-time bidder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 bar across every asset class and every organisation — no more hopping between fourteen bank websites.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38912" cy="438912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6" name="Image 0" descr="/home/claude/deck/icons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309" y="2201509"/>
            <a:ext cx="333573" cy="3335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211226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Marketplace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70432" y="23865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grid of live, upcoming and closed auctions across 29 states, refreshed daily.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944368"/>
            <a:ext cx="438912" cy="438912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10" name="Image 1" descr="/home/claude/deck/icons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09" y="2997037"/>
            <a:ext cx="333573" cy="33357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70432" y="29077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browsing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70432" y="31821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Property and Vehicle auction hubs, plus land, commercial, industrial &amp; equipment categories.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739896"/>
            <a:ext cx="438912" cy="438912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14" name="Image 2" descr="/home/claude/deck/icons/sc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09" y="3792565"/>
            <a:ext cx="333573" cy="33357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70432" y="370332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Auctions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170432" y="3977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up to 5 listings side-by-side on price, EMD, location and score before committing time.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535424"/>
            <a:ext cx="438912" cy="438912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18" name="Image 3" descr="/home/claude/deck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09" y="4588093"/>
            <a:ext cx="333573" cy="33357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70432" y="449884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Calendar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170432" y="47731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auction end-date and possession timeline on one pan-India calendar view.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178040" y="1481328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0C1E42"/>
          </a:solidFill>
          <a:ln w="12700">
            <a:solidFill>
              <a:srgbClr val="0C1E4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8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· PROPERTY &amp; VEHICLE AUCTIONS · COMPARE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452360" y="21031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616952" y="226771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616952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7616952" y="25786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BHK Apartment — Andheri West, Mumbai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616952" y="29443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₹ 82,40,000  ·  EMD ₹ 8,24,000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7616952" y="32004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6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· Mumbai Zone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7452360" y="37033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616952" y="3867912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E8D0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7616952" y="38679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7616952" y="41788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Swift VXI 2020 — Pune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616952" y="45445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₹ 3,85,000  ·  EMD ₹ 38,500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7616952" y="4800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6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· Pune Branch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7452360" y="53035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122B5C"/>
          </a:solidFill>
          <a:ln w="12700">
            <a:solidFill>
              <a:srgbClr val="122B5C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36" name="Text 30"/>
          <p:cNvSpPr txBox="1"/>
          <p:nvPr/>
        </p:nvSpPr>
        <p:spPr>
          <a:xfrm>
            <a:off x="7635240" y="5413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 auctions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7635240" y="57058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· EMD · Score · Location — side by side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 · 02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Auction Scorecard — our core differentiator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rule-based score so a buyer can tell a well-prepared listing from a risky one in seconds — before spending a rupee on EMD.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450592"/>
            <a:ext cx="438912" cy="438912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6" name="Image 0" descr="/home/claude/deck/icons/file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309" y="2503261"/>
            <a:ext cx="333573" cy="3335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241401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score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70432" y="268833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presence of auction notice, terms, property/vehicle details and eligibility documents.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438912" cy="438912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10" name="Image 1" descr="/home/claude/deck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09" y="3298789"/>
            <a:ext cx="333573" cy="33357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70432" y="320954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quality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70432" y="34838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complete descriptions, clear possession status and disclosed encumbrances.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041648"/>
            <a:ext cx="438912" cy="438912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14" name="Image 2" descr="/home/claude/deck/icons/map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09" y="4094317"/>
            <a:ext cx="333573" cy="33357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70432" y="400507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confidence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170432" y="427939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address, district and pincode completeness against the listing source.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837176"/>
            <a:ext cx="438912" cy="438912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18" name="Image 3" descr="/home/claude/dec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09" y="4889845"/>
            <a:ext cx="333573" cy="33357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70432" y="480060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verification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170432" y="5074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auction is traced to its official bank portal, DRT notice or gazette — flagged Verified / Pending / Incomplete.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178040" y="1481328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0C1E42"/>
          </a:solidFill>
          <a:ln w="12700">
            <a:solidFill>
              <a:srgbClr val="0C1E4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8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SCORECARD · VERIFICATION PANEL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452360" y="210312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7635240" y="22311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Scorecard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0579608" y="2194560"/>
            <a:ext cx="566928" cy="56692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10579608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7635240" y="28895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9235440" y="2916936"/>
            <a:ext cx="1737360" cy="146304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/>
        </p:spPr>
      </p:sp>
      <p:sp>
        <p:nvSpPr>
          <p:cNvPr id="29" name="Shape 23"/>
          <p:cNvSpPr/>
          <p:nvPr/>
        </p:nvSpPr>
        <p:spPr>
          <a:xfrm>
            <a:off x="9235440" y="2916936"/>
            <a:ext cx="1598371" cy="14630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11036808" y="286207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950" dirty="0"/>
          </a:p>
        </p:txBody>
      </p:sp>
      <p:sp>
        <p:nvSpPr>
          <p:cNvPr id="31" name="Text 25"/>
          <p:cNvSpPr txBox="1"/>
          <p:nvPr/>
        </p:nvSpPr>
        <p:spPr>
          <a:xfrm>
            <a:off x="7635240" y="3200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9235440" y="3227832"/>
            <a:ext cx="1737360" cy="146304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/>
        </p:spPr>
      </p:sp>
      <p:sp>
        <p:nvSpPr>
          <p:cNvPr id="33" name="Shape 27"/>
          <p:cNvSpPr/>
          <p:nvPr/>
        </p:nvSpPr>
        <p:spPr>
          <a:xfrm>
            <a:off x="9235440" y="3227832"/>
            <a:ext cx="1476756" cy="146304"/>
          </a:xfrm>
          <a:prstGeom prst="roundRect">
            <a:avLst>
              <a:gd name="adj" fmla="val 50000"/>
            </a:avLst>
          </a:prstGeom>
          <a:solidFill>
            <a:srgbClr val="E86020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11036808" y="3172968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7635240" y="3511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9235440" y="3538728"/>
            <a:ext cx="1737360" cy="146304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/>
        </p:spPr>
      </p:sp>
      <p:sp>
        <p:nvSpPr>
          <p:cNvPr id="37" name="Shape 31"/>
          <p:cNvSpPr/>
          <p:nvPr/>
        </p:nvSpPr>
        <p:spPr>
          <a:xfrm>
            <a:off x="9235440" y="3538728"/>
            <a:ext cx="1667866" cy="14630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11036808" y="3483864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950" dirty="0"/>
          </a:p>
        </p:txBody>
      </p:sp>
      <p:sp>
        <p:nvSpPr>
          <p:cNvPr id="39" name="Text 33"/>
          <p:cNvSpPr txBox="1"/>
          <p:nvPr/>
        </p:nvSpPr>
        <p:spPr>
          <a:xfrm>
            <a:off x="7635240" y="3822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235440" y="3849624"/>
            <a:ext cx="1737360" cy="146304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/>
        </p:spPr>
      </p:sp>
      <p:sp>
        <p:nvSpPr>
          <p:cNvPr id="41" name="Shape 35"/>
          <p:cNvSpPr/>
          <p:nvPr/>
        </p:nvSpPr>
        <p:spPr>
          <a:xfrm>
            <a:off x="9235440" y="3849624"/>
            <a:ext cx="1355141" cy="146304"/>
          </a:xfrm>
          <a:prstGeom prst="roundRect">
            <a:avLst>
              <a:gd name="adj" fmla="val 50000"/>
            </a:avLst>
          </a:prstGeom>
          <a:solidFill>
            <a:srgbClr val="E86020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11036808" y="379476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7452360" y="434340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EAF7EF"/>
          </a:solidFill>
          <a:ln w="12700">
            <a:solidFill>
              <a:srgbClr val="BEE9CE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7598664" y="4462272"/>
            <a:ext cx="420624" cy="420624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45" name="Image 4" descr="/home/claude/deck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9139" y="4512747"/>
            <a:ext cx="319674" cy="319674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8138160" y="44439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Verified</a:t>
            </a:r>
            <a:endParaRPr lang="en-US" sz="1150" dirty="0"/>
          </a:p>
        </p:txBody>
      </p:sp>
      <p:sp>
        <p:nvSpPr>
          <p:cNvPr id="47" name="Text 40"/>
          <p:cNvSpPr txBox="1"/>
          <p:nvPr/>
        </p:nvSpPr>
        <p:spPr>
          <a:xfrm>
            <a:off x="8138160" y="4709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SBI's official e-auction notice, updated 2 days ago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7452360" y="5257800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122B5C"/>
          </a:solidFill>
          <a:ln w="12700">
            <a:solidFill>
              <a:srgbClr val="122B5C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49" name="Text 42"/>
          <p:cNvSpPr txBox="1"/>
          <p:nvPr/>
        </p:nvSpPr>
        <p:spPr>
          <a:xfrm>
            <a:off x="7635240" y="5349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commission</a:t>
            </a:r>
            <a:endParaRPr lang="en-US" sz="1150" dirty="0"/>
          </a:p>
        </p:txBody>
      </p:sp>
      <p:sp>
        <p:nvSpPr>
          <p:cNvPr id="50" name="Text 43"/>
          <p:cNvSpPr txBox="1"/>
          <p:nvPr/>
        </p:nvSpPr>
        <p:spPr>
          <a:xfrm>
            <a:off x="7635240" y="563270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pay exactly what the bank's auction requires — nothing more — keeping the Scorecard's incentives honest.</a:t>
            </a:r>
            <a:endParaRPr lang="en-US" sz="950" dirty="0"/>
          </a:p>
        </p:txBody>
      </p:sp>
      <p:sp>
        <p:nvSpPr>
          <p:cNvPr id="51" name="Text 4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 · 03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toolkit from saved search to settlement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75104"/>
            <a:ext cx="502920" cy="50292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6" name="Image 0" descr="/home/claude/deck/icons/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2035454"/>
            <a:ext cx="382219" cy="3822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3347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Alerts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999232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daily or weekly notifications when a new listing matches a saved price range, city or asset type.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52544" y="173736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1975104"/>
            <a:ext cx="502920" cy="50292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11" name="Image 1" descr="/home/claude/deck/icons/book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926" y="2035454"/>
            <a:ext cx="382219" cy="38221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08576" y="263347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Watchlist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08576" y="2999232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auctions, track how many days remain, and get reminders before EMD deadlines.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56448" y="173736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75104"/>
            <a:ext cx="502920" cy="50292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16" name="Image 2" descr="/home/claude/deck/icons/gav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830" y="2035454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63347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Bids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2999232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of every bid — active, outbid, won or lost — with reference numbers and reserve context.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352544"/>
            <a:ext cx="502920" cy="50292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21" name="Image 3" descr="/home/claude/deck/icons/wal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22" y="4412894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50109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376672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track EMD payments, balance dues, subscription charges and refunds.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52544" y="411480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08576" y="4352544"/>
            <a:ext cx="502920" cy="50292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26" name="Image 4" descr="/home/claude/deck/icons/file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26" y="4412894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08576" y="50109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608576" y="5376672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per-auction document checklist — notice, terms, eligibility, property/vehicle details — with upload status.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56448" y="411480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352544"/>
            <a:ext cx="502920" cy="50292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31" name="Image 5" descr="/home/claude/deck/icons/bar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830" y="4412894"/>
            <a:ext cx="382219" cy="38221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12480" y="50109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Dashboard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5376672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auctions, active bids, won auctions and pending payments summarised in one screen.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 · 04 — GROWTH ENGINE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Nilvaa: turning window-shoppers into serious bidders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tiered membership program that rewards genuine research behaviour — saving, comparing, exploring, completing KYC — with real platform benefits. This is Nilami's built-in retention &amp; activation loop.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122B5C"/>
          </a:solidFill>
          <a:ln w="12700">
            <a:solidFill>
              <a:srgbClr val="193B76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93B7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900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on sign-up</a:t>
            </a:r>
            <a:endParaRPr lang="en-US" sz="950" dirty="0"/>
          </a:p>
        </p:txBody>
      </p:sp>
      <p:pic>
        <p:nvPicPr>
          <p:cNvPr id="9" name="Image 0" descr="/home/claude/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1188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87552" y="3566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saved auctions</a:t>
            </a:r>
            <a:endParaRPr lang="en-US" sz="950" dirty="0"/>
          </a:p>
        </p:txBody>
      </p:sp>
      <p:pic>
        <p:nvPicPr>
          <p:cNvPr id="11" name="Image 1" descr="/home/claude/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7880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87552" y="41330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price alert</a:t>
            </a:r>
            <a:endParaRPr lang="en-US" sz="950" dirty="0"/>
          </a:p>
        </p:txBody>
      </p:sp>
      <p:pic>
        <p:nvPicPr>
          <p:cNvPr id="13" name="Image 2" descr="/home/claude/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45736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87552" y="470001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guides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383280" y="233172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122B5C"/>
          </a:solidFill>
          <a:ln w="12700">
            <a:solidFill>
              <a:srgbClr val="214E9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383280" y="23317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214E9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3383280" y="2331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3566160" y="29900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Save/bid on 4+ auctions</a:t>
            </a:r>
            <a:endParaRPr lang="en-US" sz="950" dirty="0"/>
          </a:p>
        </p:txBody>
      </p:sp>
      <p:pic>
        <p:nvPicPr>
          <p:cNvPr id="19" name="Image 3" descr="/home/claude/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611880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822192" y="3566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saves</a:t>
            </a:r>
            <a:endParaRPr lang="en-US" sz="950" dirty="0"/>
          </a:p>
        </p:txBody>
      </p:sp>
      <p:pic>
        <p:nvPicPr>
          <p:cNvPr id="21" name="Image 4" descr="/home/claude/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4178808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822192" y="41330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active alerts</a:t>
            </a:r>
            <a:endParaRPr lang="en-US" sz="950" dirty="0"/>
          </a:p>
        </p:txBody>
      </p:sp>
      <p:pic>
        <p:nvPicPr>
          <p:cNvPr id="23" name="Image 5" descr="/home/claude/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4745736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822192" y="470001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 guidance per listing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6217920" y="233172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122B5C"/>
          </a:solidFill>
          <a:ln w="12700">
            <a:solidFill>
              <a:srgbClr val="E86020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217920" y="23317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E86020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6217920" y="2331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6400800" y="29900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meaningful actions</a:t>
            </a:r>
            <a:endParaRPr lang="en-US" sz="950" dirty="0"/>
          </a:p>
        </p:txBody>
      </p:sp>
      <p:pic>
        <p:nvPicPr>
          <p:cNvPr id="29" name="Image 6" descr="/home/claude/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611880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656832" y="3566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early access</a:t>
            </a:r>
            <a:endParaRPr lang="en-US" sz="950" dirty="0"/>
          </a:p>
        </p:txBody>
      </p:sp>
      <p:pic>
        <p:nvPicPr>
          <p:cNvPr id="31" name="Image 7" descr="/home/claude/deck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178808"/>
            <a:ext cx="182880" cy="18288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656832" y="41330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up to 5 listings</a:t>
            </a:r>
            <a:endParaRPr lang="en-US" sz="950" dirty="0"/>
          </a:p>
        </p:txBody>
      </p:sp>
      <p:pic>
        <p:nvPicPr>
          <p:cNvPr id="33" name="Image 8" descr="/home/claude/deck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745736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656832" y="470001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checklist</a:t>
            </a:r>
            <a:endParaRPr lang="en-US" sz="950" dirty="0"/>
          </a:p>
        </p:txBody>
      </p:sp>
      <p:sp>
        <p:nvSpPr>
          <p:cNvPr id="35" name="Shape 24"/>
          <p:cNvSpPr/>
          <p:nvPr/>
        </p:nvSpPr>
        <p:spPr>
          <a:xfrm>
            <a:off x="9052560" y="233172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122B5C"/>
          </a:solidFill>
          <a:ln w="12700">
            <a:solidFill>
              <a:srgbClr val="FF8535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9052560" y="23317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8535"/>
          </a:solidFill>
          <a:ln/>
        </p:spPr>
      </p:sp>
      <p:sp>
        <p:nvSpPr>
          <p:cNvPr id="37" name="Text 26"/>
          <p:cNvSpPr txBox="1"/>
          <p:nvPr/>
        </p:nvSpPr>
        <p:spPr>
          <a:xfrm>
            <a:off x="9052560" y="2331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300" dirty="0"/>
          </a:p>
        </p:txBody>
      </p:sp>
      <p:sp>
        <p:nvSpPr>
          <p:cNvPr id="38" name="Text 27"/>
          <p:cNvSpPr txBox="1"/>
          <p:nvPr/>
        </p:nvSpPr>
        <p:spPr>
          <a:xfrm>
            <a:off x="9235440" y="29900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total actions</a:t>
            </a:r>
            <a:endParaRPr lang="en-US" sz="950" dirty="0"/>
          </a:p>
        </p:txBody>
      </p:sp>
      <p:pic>
        <p:nvPicPr>
          <p:cNvPr id="39" name="Image 9" descr="/home/claude/deck/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0" y="3611880"/>
            <a:ext cx="182880" cy="18288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491472" y="3566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auction advisor</a:t>
            </a:r>
            <a:endParaRPr lang="en-US" sz="950" dirty="0"/>
          </a:p>
        </p:txBody>
      </p:sp>
      <p:pic>
        <p:nvPicPr>
          <p:cNvPr id="41" name="Image 10" descr="/home/claude/deck/icons/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5440" y="4178808"/>
            <a:ext cx="182880" cy="18288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9491472" y="41330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First-look on high-value listings</a:t>
            </a:r>
            <a:endParaRPr lang="en-US" sz="950" dirty="0"/>
          </a:p>
        </p:txBody>
      </p:sp>
      <p:pic>
        <p:nvPicPr>
          <p:cNvPr id="43" name="Image 11" descr="/home/claude/deck/icons/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5440" y="4745736"/>
            <a:ext cx="182880" cy="18288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491472" y="470001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&lt; 4 hrs</a:t>
            </a:r>
            <a:endParaRPr lang="en-US" sz="950" dirty="0"/>
          </a:p>
        </p:txBody>
      </p:sp>
      <p:sp>
        <p:nvSpPr>
          <p:cNvPr id="45" name="Text 3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46" name="Text 3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SIDE OF THE MARKETPLACE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banks, ARCs and government bodies too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6" name="Image 0" descr="/home/claude/deck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072030"/>
            <a:ext cx="382219" cy="3822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Dashboard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752344"/>
            <a:ext cx="82296" cy="82296"/>
          </a:xfrm>
          <a:prstGeom prst="ellipse">
            <a:avLst/>
          </a:prstGeom>
          <a:solidFill>
            <a:srgbClr val="214E9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97280" y="26060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manage listings across property and vehicle categories from one console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502152"/>
            <a:ext cx="82296" cy="82296"/>
          </a:xfrm>
          <a:prstGeom prst="ellipse">
            <a:avLst/>
          </a:prstGeom>
          <a:solidFill>
            <a:srgbClr val="214E9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335584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registered bidders, live bid activity and views per listing in real time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" y="4251960"/>
            <a:ext cx="82296" cy="82296"/>
          </a:xfrm>
          <a:prstGeom prst="ellipse">
            <a:avLst/>
          </a:prstGeom>
          <a:solidFill>
            <a:srgbClr val="214E9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97280" y="4105656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manage auction notices, terms and eligibility documents centrally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" y="5001768"/>
            <a:ext cx="82296" cy="82296"/>
          </a:xfrm>
          <a:prstGeom prst="ellipse">
            <a:avLst/>
          </a:prstGeom>
          <a:solidFill>
            <a:srgbClr val="214E9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97280" y="4855464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/ branch-level performance reporting for recovery officers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173736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2011680"/>
            <a:ext cx="502920" cy="50292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18" name="Image 1" descr="/home/claude/dec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710" y="2072030"/>
            <a:ext cx="382219" cy="382219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94944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Admin &amp; Governance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309360" y="2752344"/>
            <a:ext cx="82296" cy="82296"/>
          </a:xfrm>
          <a:prstGeom prst="ellipse">
            <a:avLst/>
          </a:prstGeom>
          <a:solidFill>
            <a:srgbClr val="E8602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37960" y="26060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organisations and listings before they go live — keeping the Scorecard trustworthy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309360" y="3502152"/>
            <a:ext cx="82296" cy="82296"/>
          </a:xfrm>
          <a:prstGeom prst="ellipse">
            <a:avLst/>
          </a:prstGeom>
          <a:solidFill>
            <a:srgbClr val="E8602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537960" y="335584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buyers, org admins and platform admins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309360" y="4251960"/>
            <a:ext cx="82296" cy="82296"/>
          </a:xfrm>
          <a:prstGeom prst="ellipse">
            <a:avLst/>
          </a:prstGeom>
          <a:solidFill>
            <a:srgbClr val="E8602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537960" y="410565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&amp; moderation workflow for disputed or incomplete listings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309360" y="507492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EEF2F9"/>
          </a:solidFill>
          <a:ln w="12700">
            <a:solidFill>
              <a:srgbClr val="D5DFEF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6492240" y="507492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193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higher-quality listings → more serious bidders → fewer failed auctions → faster NPA resolution for banks &amp; regulators.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built to move fast and scale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75104"/>
            <a:ext cx="502920" cy="50292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6" name="Image 0" descr="/home/claude/dec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2035454"/>
            <a:ext cx="382219" cy="3822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3347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980944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TypeScript, Vite build tooling, Tailwind CSS design system, React Router for navigation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52544" y="173736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1975104"/>
            <a:ext cx="502920" cy="50292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11" name="Image 1" descr="/home/claude/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926" y="2035454"/>
            <a:ext cx="382219" cy="38221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08576" y="263347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&amp; Context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08576" y="2980944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Watchlist, Compare and Nilvaa (membership) context providers manage app-wide state client-side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56448" y="173736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75104"/>
            <a:ext cx="502920" cy="50292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16" name="Image 2" descr="/home/claude/dec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830" y="2035454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63347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 (roadmap)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2980944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runs on typed mock data today; production plan moves to a Postgres + REST/GraphQL API with a scraping/ingestion pipeline for source portals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EEF2F9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352544"/>
            <a:ext cx="502920" cy="502920"/>
          </a:xfrm>
          <a:prstGeom prst="ellipse">
            <a:avLst/>
          </a:prstGeom>
          <a:solidFill>
            <a:srgbClr val="193B76"/>
          </a:solidFill>
          <a:ln/>
        </p:spPr>
      </p:sp>
      <p:pic>
        <p:nvPicPr>
          <p:cNvPr id="21" name="Image 3" descr="/home/claude/dec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22" y="4412894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50109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Engine (roadmap)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358384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Auction Scorecard today — evolving to a weighted model combining document-completeness NLP + source cross-verification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52544" y="411480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EEF2F9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08576" y="4352544"/>
            <a:ext cx="502920" cy="502920"/>
          </a:xfrm>
          <a:prstGeom prst="ellipse">
            <a:avLst/>
          </a:prstGeom>
          <a:solidFill>
            <a:srgbClr val="193B76"/>
          </a:solidFill>
          <a:ln/>
        </p:spPr>
      </p:sp>
      <p:pic>
        <p:nvPicPr>
          <p:cNvPr id="26" name="Image 4" descr="/home/claude/deck/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26" y="4412894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08576" y="50109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Infra (roadmap)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608576" y="5358384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services, object storage for documents, scheduled jobs for listing ingestion &amp; alert dispatch, hosted on cloud infra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56448" y="411480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EEF2F9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352544"/>
            <a:ext cx="502920" cy="502920"/>
          </a:xfrm>
          <a:prstGeom prst="ellipse">
            <a:avLst/>
          </a:prstGeom>
          <a:solidFill>
            <a:srgbClr val="193B76"/>
          </a:solidFill>
          <a:ln/>
        </p:spPr>
      </p:sp>
      <p:pic>
        <p:nvPicPr>
          <p:cNvPr id="31" name="Image 5" descr="/home/claude/deck/icons/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830" y="4412894"/>
            <a:ext cx="382219" cy="38221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12480" y="50109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Compliance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5358384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(buyer / org admin / platform admin), KYC document handling aligned to RBI &amp; DPDP data-protection norms</a:t>
            </a:r>
            <a:endParaRPr lang="en-US" sz="9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· MARKET SIZING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policy-tailwind market waiting to be organised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468880" cy="2468880"/>
          </a:xfrm>
          <a:prstGeom prst="ellipse">
            <a:avLst/>
          </a:prstGeom>
          <a:solidFill>
            <a:srgbClr val="0C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423160"/>
            <a:ext cx="1874520" cy="1874520"/>
          </a:xfrm>
          <a:prstGeom prst="ellipse">
            <a:avLst/>
          </a:prstGeom>
          <a:solidFill>
            <a:srgbClr val="214E92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2743200"/>
            <a:ext cx="1234440" cy="1234440"/>
          </a:xfrm>
          <a:prstGeom prst="ellipse">
            <a:avLst/>
          </a:prstGeom>
          <a:solidFill>
            <a:srgbClr val="E86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37360" y="3246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420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2121408"/>
            <a:ext cx="164592" cy="164592"/>
          </a:xfrm>
          <a:prstGeom prst="ellipse">
            <a:avLst/>
          </a:prstGeom>
          <a:solidFill>
            <a:srgbClr val="0C1E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20299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32257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Indian households, investors and SMEs in the market for real estate or vehicles — the broad addressable population the auction channel could reach.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3355848"/>
            <a:ext cx="164592" cy="164592"/>
          </a:xfrm>
          <a:prstGeom prst="ellipse">
            <a:avLst/>
          </a:prstGeom>
          <a:solidFill>
            <a:srgbClr val="214E9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34840" y="32644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55701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actively tracking or bidding on bank/NPA/DRT/government e-auctions today — informed by the 122,500+ properties already listed on Baanknet alone, plus vehicles, private-bank and NBFC assets outside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60520" y="4590288"/>
            <a:ext cx="164592" cy="164592"/>
          </a:xfrm>
          <a:prstGeom prst="ellipse">
            <a:avLst/>
          </a:prstGeom>
          <a:solidFill>
            <a:srgbClr val="E860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34840" y="44988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479145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Nilami's realistic first-wave users: digitally active, metro &amp; tier-2 first-time bidders and small investors acquired via SEO, bank-officer referrals and fintech/real-estate community partnerships.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EEF2F9"/>
          </a:solidFill>
          <a:ln w="12700">
            <a:solidFill>
              <a:srgbClr val="D5DFEF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56235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93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Tailwind: SARFAESI enforcement is rising and DFS is actively investing in e-auction infrastructure (Baanknet revamp, Jan 2025) — the government is pre-selling the category for us.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· ROLLOUT PLAN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three-phase GTM: prove trust, then scale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39312" cy="411480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639312" cy="457200"/>
          </a:xfrm>
          <a:prstGeom prst="roundRect">
            <a:avLst>
              <a:gd name="adj" fmla="val 16000"/>
            </a:avLst>
          </a:prstGeom>
          <a:solidFill>
            <a:srgbClr val="193B7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0–6 MONTHS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trust model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77240" y="2971800"/>
            <a:ext cx="73152" cy="73152"/>
          </a:xfrm>
          <a:prstGeom prst="ellipse">
            <a:avLst/>
          </a:prstGeom>
          <a:solidFill>
            <a:srgbClr val="193B7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816352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2–3 metro clusters (Mumbai, Delhi-NCR, Bengaluru) with property + vehicle listings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730752"/>
            <a:ext cx="73152" cy="73152"/>
          </a:xfrm>
          <a:prstGeom prst="ellipse">
            <a:avLst/>
          </a:prstGeom>
          <a:solidFill>
            <a:srgbClr val="193B7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75304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10–15 bank branches / recovery officers as pilot listing partners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4489704"/>
            <a:ext cx="73152" cy="73152"/>
          </a:xfrm>
          <a:prstGeom prst="ellipse">
            <a:avLst/>
          </a:prstGeom>
          <a:solidFill>
            <a:srgbClr val="193B7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334256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content: ‘beginner guide to bank auctions’ keyword cluster + explainer videos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5248656"/>
            <a:ext cx="73152" cy="73152"/>
          </a:xfrm>
          <a:prstGeom prst="ellipse">
            <a:avLst/>
          </a:prstGeom>
          <a:solidFill>
            <a:srgbClr val="193B7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5093208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Scorecard live on every listing from day one — the wedge feature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25112" y="1783080"/>
            <a:ext cx="3639312" cy="411480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25112" y="1783080"/>
            <a:ext cx="3639312" cy="457200"/>
          </a:xfrm>
          <a:prstGeom prst="roundRect">
            <a:avLst>
              <a:gd name="adj" fmla="val 16000"/>
            </a:avLst>
          </a:prstGeom>
          <a:solidFill>
            <a:srgbClr val="214E9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25112" y="1783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6–12 MONTHS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23774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coverage &amp; retention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553712" y="2971800"/>
            <a:ext cx="73152" cy="73152"/>
          </a:xfrm>
          <a:prstGeom prst="ellipse">
            <a:avLst/>
          </a:prstGeom>
          <a:solidFill>
            <a:srgbClr val="214E9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36592" y="2816352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all major metros + tier-2 cities; add DRT &amp; ARC sources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53712" y="3730752"/>
            <a:ext cx="73152" cy="73152"/>
          </a:xfrm>
          <a:prstGeom prst="ellipse">
            <a:avLst/>
          </a:prstGeom>
          <a:solidFill>
            <a:srgbClr val="214E9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36592" y="3575304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Nilvaa membership tiers to drive repeat visits and referrals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53712" y="4489704"/>
            <a:ext cx="73152" cy="73152"/>
          </a:xfrm>
          <a:prstGeom prst="ellipse">
            <a:avLst/>
          </a:prstGeom>
          <a:solidFill>
            <a:srgbClr val="214E9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36592" y="4334256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with real-estate portals, legal-aid platforms and MFI/fintech communities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53712" y="5248656"/>
            <a:ext cx="73152" cy="73152"/>
          </a:xfrm>
          <a:prstGeom prst="ellipse">
            <a:avLst/>
          </a:prstGeom>
          <a:solidFill>
            <a:srgbClr val="214E9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36592" y="5093208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acquisition: Google/Meta performance marketing targeted at active loan-default search intent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01584" y="1783080"/>
            <a:ext cx="3639312" cy="411480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01584" y="1783080"/>
            <a:ext cx="3639312" cy="457200"/>
          </a:xfrm>
          <a:prstGeom prst="roundRect">
            <a:avLst>
              <a:gd name="adj" fmla="val 16000"/>
            </a:avLst>
          </a:prstGeom>
          <a:solidFill>
            <a:srgbClr val="E8602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01584" y="1783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12–24 MONTHS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330184" y="23774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depth &amp; monetisation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8330184" y="2971800"/>
            <a:ext cx="73152" cy="73152"/>
          </a:xfrm>
          <a:prstGeom prst="ellipse">
            <a:avLst/>
          </a:prstGeom>
          <a:solidFill>
            <a:srgbClr val="E8602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13064" y="2816352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formal data-sharing / listing agreements with private banks and NBFCs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30184" y="3730752"/>
            <a:ext cx="73152" cy="73152"/>
          </a:xfrm>
          <a:prstGeom prst="ellipse">
            <a:avLst/>
          </a:prstGeom>
          <a:solidFill>
            <a:srgbClr val="E8602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13064" y="3575304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Org Dashboard as a paid SaaS module for banks &amp; ARCs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330184" y="4489704"/>
            <a:ext cx="73152" cy="73152"/>
          </a:xfrm>
          <a:prstGeom prst="ellipse">
            <a:avLst/>
          </a:prstGeom>
          <a:solidFill>
            <a:srgbClr val="E8602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13064" y="4334256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API partnership or complementary integration with Baanknet / state e-auction cells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330184" y="5248656"/>
            <a:ext cx="73152" cy="73152"/>
          </a:xfrm>
          <a:prstGeom prst="ellipse">
            <a:avLst/>
          </a:prstGeom>
          <a:solidFill>
            <a:srgbClr val="E8602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513064" y="5093208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coverage across all 29 states and union territories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· CHANNELS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get to our first 100,000 registered buyers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75104"/>
            <a:ext cx="502920" cy="50292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6" name="Image 0" descr="/home/claude/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2035454"/>
            <a:ext cx="382219" cy="3822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3347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&amp; Content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035808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‘Bank auction property in [city]’ and ‘EMD meaning’ style search intent — high-intent, low-cost organic traffic via guides and calculators.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52544" y="173736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1975104"/>
            <a:ext cx="502920" cy="50292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11" name="Image 1" descr="/home/claude/deck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926" y="2035454"/>
            <a:ext cx="382219" cy="38221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08576" y="263347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&amp; Recovery-Officer Referrals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08576" y="3035808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 to zonal recovery teams: Nilami reduces failed auctions by bringing serious, pre-informed bidders.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56448" y="173736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75104"/>
            <a:ext cx="502920" cy="50292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16" name="Image 2" descr="/home/claude/deck/icons/mega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830" y="2035454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63347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Fintech &amp; Real-Estate Partnerships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035808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Co-marketing with property portals, personal-finance creators and MFI/NBFC communities who already reach distressed-asset buyers.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352544"/>
            <a:ext cx="502920" cy="50292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21" name="Image 3" descr="/home/claude/dec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22" y="4412894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501091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 &amp; Nilvaa Loop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413248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tiers reward inviting friends and completing KYC — compounding organic growth without ad spend.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52544" y="411480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08576" y="4352544"/>
            <a:ext cx="502920" cy="50292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26" name="Image 4" descr="/home/claude/deck/icons/land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26" y="4412894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08576" y="501091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&amp; Policy Engagement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608576" y="5413248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Nilami as a citizen-facing complement to DFS's Baanknet — explore MeitY/Startup India recognition and state e-governance tie-ins.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56448" y="4114800"/>
            <a:ext cx="363931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352544"/>
            <a:ext cx="502920" cy="502920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31" name="Image 5" descr="/home/claude/deck/icons/smartph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830" y="4412894"/>
            <a:ext cx="382219" cy="38221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12480" y="501091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Regional-Language &amp; WhatsApp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5413248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explainer content and WhatsApp auction alerts for tier-2/3 reach, where most first-time bidders actually search.</a:t>
            </a:r>
            <a:endParaRPr lang="en-US" sz="9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· BUSINESS MODEL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that doesn't compromise buyer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457200" cy="45720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6" name="Image 0" descr="/home/claude/deck/icons/c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0195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83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Nilvaa Premium / VIP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417320" y="2103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1732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· recurring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16916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tiers for serious bidders: early access, legal checklists, EMD guidance, personal advisor support.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2761488"/>
            <a:ext cx="457200" cy="45720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13" name="Image 1" descr="/home/claude/deck/icons/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81635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697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 Dashboard SaaS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1417320" y="30175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41732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· recurring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4480560" y="26060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listing-management, analytics and bidder-insight console licensed to banks, ARCs and NBFCs.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52044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9808" y="3675888"/>
            <a:ext cx="457200" cy="45720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20" name="Image 2" descr="/home/claude/deck/icons/bar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73075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17320" y="3611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Intelligence Reports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1417320" y="39319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417320" y="3931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· project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4480560" y="35204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anonymised demand &amp; pricing reports sold to ARCs, real-estate investors and research desks.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443484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9808" y="4590288"/>
            <a:ext cx="457200" cy="457200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27" name="Image 3" descr="/home/claude/deck/icons/mega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645152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17320" y="4526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Featured / Sponsored Placement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1417320" y="48463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1417320" y="4846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· ad-based</a:t>
            </a:r>
            <a:endParaRPr lang="en-US" sz="850" dirty="0"/>
          </a:p>
        </p:txBody>
      </p:sp>
      <p:sp>
        <p:nvSpPr>
          <p:cNvPr id="31" name="Text 25"/>
          <p:cNvSpPr txBox="1"/>
          <p:nvPr/>
        </p:nvSpPr>
        <p:spPr>
          <a:xfrm>
            <a:off x="4480560" y="44348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organisations may pay to feature time-sensitive auctions — never affecting the Scorecard ranking itself.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5349240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0C1E42"/>
          </a:solidFill>
          <a:ln w="12700">
            <a:solidFill>
              <a:srgbClr val="0C1E4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33" name="Text 27"/>
          <p:cNvSpPr txBox="1"/>
          <p:nvPr/>
        </p:nvSpPr>
        <p:spPr>
          <a:xfrm>
            <a:off x="777240" y="534924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commitment: buyer-side discovery, search and the Auction Scorecard remain free and commission-free — monetisation lives on the institutional and premium-convenience layers, never on access to fair pricing information.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from prototype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17320" y="3246120"/>
            <a:ext cx="9354312" cy="0"/>
          </a:xfrm>
          <a:prstGeom prst="line">
            <a:avLst/>
          </a:prstGeom>
          <a:noFill/>
          <a:ln w="38100">
            <a:solidFill>
              <a:srgbClr val="D5DF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6736" y="3145536"/>
            <a:ext cx="201168" cy="201168"/>
          </a:xfrm>
          <a:prstGeom prst="ellipse">
            <a:avLst/>
          </a:prstGeom>
          <a:solidFill>
            <a:srgbClr val="1E8E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880360"/>
            <a:ext cx="0" cy="365760"/>
          </a:xfrm>
          <a:prstGeom prst="line">
            <a:avLst/>
          </a:prstGeom>
          <a:noFill/>
          <a:ln w="19050">
            <a:solidFill>
              <a:srgbClr val="D5DFE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0C1E42"/>
          </a:solidFill>
          <a:ln w="12700">
            <a:solidFill>
              <a:srgbClr val="0C1E4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1168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React/TypeScript prototype: search, Scorecard, compare, alerts, Nilvaa membership, org &amp; admin dashboards (mock data).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5314" y="3145536"/>
            <a:ext cx="201168" cy="201168"/>
          </a:xfrm>
          <a:prstGeom prst="ellipse">
            <a:avLst/>
          </a:prstGeom>
          <a:solidFill>
            <a:srgbClr val="E860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55898" y="3346704"/>
            <a:ext cx="0" cy="219456"/>
          </a:xfrm>
          <a:prstGeom prst="line">
            <a:avLst/>
          </a:prstGeom>
          <a:noFill/>
          <a:ln w="19050">
            <a:solidFill>
              <a:srgbClr val="D5DFE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772918" y="35661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10078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months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910078" y="393192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backend, real listing-ingestion pipeline from public bank/DRT notices, KYC &amp; payment gateway integration.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93892" y="3145536"/>
            <a:ext cx="201168" cy="201168"/>
          </a:xfrm>
          <a:prstGeom prst="ellipse">
            <a:avLst/>
          </a:prstGeom>
          <a:solidFill>
            <a:srgbClr val="E860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4476" y="2880360"/>
            <a:ext cx="0" cy="365760"/>
          </a:xfrm>
          <a:prstGeom prst="line">
            <a:avLst/>
          </a:prstGeom>
          <a:noFill/>
          <a:ln w="19050">
            <a:solidFill>
              <a:srgbClr val="D5DFE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111496" y="16459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248656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 months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248656" y="201168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10–15 bank branches, launch Nilvaa in production, mobile-responsive PWA.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332470" y="3145536"/>
            <a:ext cx="201168" cy="201168"/>
          </a:xfrm>
          <a:prstGeom prst="ellipse">
            <a:avLst/>
          </a:prstGeom>
          <a:solidFill>
            <a:srgbClr val="E860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33054" y="3346704"/>
            <a:ext cx="0" cy="219456"/>
          </a:xfrm>
          <a:prstGeom prst="line">
            <a:avLst/>
          </a:prstGeom>
          <a:noFill/>
          <a:ln w="19050">
            <a:solidFill>
              <a:srgbClr val="D5DFE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450074" y="35661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587234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12 months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587234" y="393192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language support, WhatsApp alerts, Org Dashboard SaaS launch, DRT/ARC data partnerships.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671048" y="3145536"/>
            <a:ext cx="201168" cy="201168"/>
          </a:xfrm>
          <a:prstGeom prst="ellipse">
            <a:avLst/>
          </a:prstGeom>
          <a:solidFill>
            <a:srgbClr val="E860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71632" y="2880360"/>
            <a:ext cx="0" cy="365760"/>
          </a:xfrm>
          <a:prstGeom prst="line">
            <a:avLst/>
          </a:prstGeom>
          <a:noFill/>
          <a:ln w="19050">
            <a:solidFill>
              <a:srgbClr val="D5DFE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674352" y="16459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811512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24 months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811512" y="201168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coverage, native mobile apps, market-intelligence product line, explore Baanknet/state-portal integration.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5394960"/>
            <a:ext cx="3840480" cy="3840480"/>
          </a:xfrm>
          <a:prstGeom prst="ellipse">
            <a:avLst/>
          </a:prstGeom>
          <a:ln w="19050">
            <a:solidFill>
              <a:srgbClr val="E860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locked bank notice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bid you understand.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 turns India's most fragmented, highest-friction marketplace into one transparent, trust-scored front door — for buyers, banks and government alike.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384048" cy="384048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6" name="Image 0" descr="/home/claude/deck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166" y="3749406"/>
            <a:ext cx="291876" cy="2918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7216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—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data-sharing pathways with DFS / bank recovery teams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4297680"/>
            <a:ext cx="384048" cy="384048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9" name="Image 1" descr="/home/claude/deck/icons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66" y="4343766"/>
            <a:ext cx="291876" cy="2918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70432" y="43159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partners —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bank branches willing to list on Nilami for a 90-day pilot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E86020"/>
          </a:solidFill>
          <a:ln/>
        </p:spPr>
      </p:sp>
      <p:pic>
        <p:nvPicPr>
          <p:cNvPr id="12" name="Image 2" descr="/home/claude/deck/icons/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66" y="4938126"/>
            <a:ext cx="291876" cy="29187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70432" y="49103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—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jury on scaling the Auction Scorecard into a certifiable trust standard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275320" y="1234440"/>
            <a:ext cx="3364992" cy="4937760"/>
          </a:xfrm>
          <a:prstGeom prst="roundRect">
            <a:avLst>
              <a:gd name="adj" fmla="val 2174"/>
            </a:avLst>
          </a:prstGeom>
          <a:solidFill>
            <a:srgbClr val="122B5C"/>
          </a:solidFill>
          <a:ln w="12700">
            <a:solidFill>
              <a:srgbClr val="214E92"/>
            </a:solidFill>
            <a:prstDash val="solid"/>
          </a:ln>
          <a:effectLst>
            <a:outerShdw sx="100000" sy="100000" kx="0" ky="0" algn="bl" rotWithShape="0" blurRad="101600" dist="25400" dir="5400000">
              <a:srgbClr val="0C1E42">
                <a:alpha val="12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8549640" y="1508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NILAMI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854964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8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Find. Understand. Bid.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549640" y="2423160"/>
            <a:ext cx="2834640" cy="0"/>
          </a:xfrm>
          <a:prstGeom prst="line">
            <a:avLst/>
          </a:prstGeom>
          <a:noFill/>
          <a:ln w="12700">
            <a:solidFill>
              <a:srgbClr val="214E9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549640" y="2651760"/>
            <a:ext cx="347472" cy="347472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19" name="Image 3" descr="/home/claude/deck/icons/m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337" y="2693457"/>
            <a:ext cx="264079" cy="26407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06840" y="26700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team@nilami.in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549640" y="3182112"/>
            <a:ext cx="347472" cy="347472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22" name="Image 4" descr="/home/claude/deck/icons/ph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337" y="3223809"/>
            <a:ext cx="264079" cy="26407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006840" y="32004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+91 00000 00000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549640" y="3712464"/>
            <a:ext cx="347472" cy="347472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25" name="Image 5" descr="/home/claude/deck/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1337" y="3754161"/>
            <a:ext cx="264079" cy="264079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006840" y="3730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nilami.in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8549640" y="4242816"/>
            <a:ext cx="347472" cy="347472"/>
          </a:xfrm>
          <a:prstGeom prst="ellipse">
            <a:avLst/>
          </a:prstGeom>
          <a:solidFill>
            <a:srgbClr val="214E92"/>
          </a:solidFill>
          <a:ln/>
        </p:spPr>
      </p:sp>
      <p:pic>
        <p:nvPicPr>
          <p:cNvPr id="28" name="Image 6" descr="/home/claude/deck/icons/linkedi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1337" y="4284513"/>
            <a:ext cx="264079" cy="264079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006840" y="42611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linkedin.com/company/nilami</a:t>
            </a:r>
            <a:endParaRPr lang="en-US" sz="1100" dirty="0"/>
          </a:p>
        </p:txBody>
      </p:sp>
      <p:sp>
        <p:nvSpPr>
          <p:cNvPr id="30" name="Text 21"/>
          <p:cNvSpPr txBox="1"/>
          <p:nvPr/>
        </p:nvSpPr>
        <p:spPr>
          <a:xfrm>
            <a:off x="8549640" y="5623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150" dirty="0"/>
          </a:p>
        </p:txBody>
      </p:sp>
      <p:sp>
        <p:nvSpPr>
          <p:cNvPr id="31" name="Text 2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NILAMI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2026-09-08T19:11:14Z</dcterms:created>
  <dcterms:modified xsi:type="dcterms:W3CDTF">2026-09-08T19:11:14Z</dcterms:modified>
</cp:coreProperties>
</file>